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4414520"/>
          </a:xfrm>
        </p:spPr>
        <p:txBody>
          <a:bodyPr>
            <a:normAutofit fontScale="90000"/>
          </a:bodyPr>
          <a:p>
            <a:r>
              <a:rPr lang="en-US" altLang="zh-CN"/>
              <a:t>Microfossil Image Classification with ViT &amp; ResNet:</a:t>
            </a:r>
            <a:br>
              <a:rPr lang="en-US" altLang="zh-CN"/>
            </a:br>
            <a:r>
              <a:rPr lang="en-US" altLang="zh-CN"/>
              <a:t>Three-Stage Experiment Project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Project Motivation (User Story Level)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Scientists want to classify microfossil radiolarian images accurately.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Current CNN models work but require heavy manual tuning.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“What if transformers help small scientific datasets?”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My goal: Build a simple, reproducible comparison across three setups.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Dataset 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SO32 dataset (32 species, microscope images).</a:t>
            </a:r>
            <a:endParaRPr lang="en-US" altLang="zh-CN"/>
          </a:p>
          <a:p>
            <a:r>
              <a:rPr lang="en-US" altLang="zh-CN"/>
              <a:t>Challenges:</a:t>
            </a:r>
            <a:endParaRPr lang="en-US" altLang="zh-CN"/>
          </a:p>
          <a:p>
            <a:pPr lvl="1"/>
            <a:r>
              <a:rPr lang="en-US" altLang="zh-CN"/>
              <a:t>Strong intra-class variation</a:t>
            </a:r>
            <a:endParaRPr lang="en-US" altLang="zh-CN"/>
          </a:p>
          <a:p>
            <a:pPr lvl="1"/>
            <a:r>
              <a:rPr lang="en-US" altLang="zh-CN"/>
              <a:t>Low inter-class difference</a:t>
            </a:r>
            <a:endParaRPr lang="en-US" altLang="zh-CN"/>
          </a:p>
          <a:p>
            <a:pPr lvl="1"/>
            <a:r>
              <a:rPr lang="en-US" altLang="zh-CN"/>
              <a:t>Limited samples </a:t>
            </a:r>
            <a:r>
              <a:rPr lang="en-US" altLang="en-US"/>
              <a:t>→</a:t>
            </a:r>
            <a:r>
              <a:rPr lang="en-US" altLang="zh-CN"/>
              <a:t> risk of overfitting</a:t>
            </a:r>
            <a:endParaRPr lang="en-US" altLang="zh-CN"/>
          </a:p>
          <a:p>
            <a:r>
              <a:rPr lang="en-US" altLang="zh-CN"/>
              <a:t>Split: train/val/test</a:t>
            </a:r>
            <a:endParaRPr lang="en-US" altLang="zh-CN"/>
          </a:p>
          <a:p>
            <a:r>
              <a:rPr lang="en-US" altLang="zh-CN"/>
              <a:t>All images resized to 224</a:t>
            </a:r>
            <a:r>
              <a:rPr lang="en-US" altLang="en-US"/>
              <a:t>×</a:t>
            </a:r>
            <a:r>
              <a:rPr lang="en-US" altLang="zh-CN"/>
              <a:t>224 for model compatibility.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Pipeline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Experiment 1: Baseline ViT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Experiment 2: ViT + Augmentations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Experiment 3: ResNet34 + Augmentations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Metrics: Accuracy, loss curves, confusion matrix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Technology Used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PyTorch / timm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torchvision.transforms for augmentation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Transformers (self-attention + patch embedding)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ResNet residual blocks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Training tools: AdamW, cosine LR schedule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Visualization: matplotlib plots (accuracy/loss/CM)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Experiment 1: Baseline ViT (User Story </a:t>
            </a:r>
            <a:r>
              <a:rPr lang="en-US" altLang="en-US"/>
              <a:t>→</a:t>
            </a:r>
            <a:r>
              <a:rPr lang="en-US" altLang="zh-CN"/>
              <a:t> Fix Overfitting)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Story: “Let’s see how ViT performs out of the box.”</a:t>
            </a:r>
            <a:endParaRPr lang="en-US" altLang="zh-CN"/>
          </a:p>
          <a:p>
            <a:pPr lvl="1"/>
            <a:r>
              <a:rPr lang="en-US" altLang="zh-CN"/>
              <a:t>Model: ViT-B/16 pretrained on ImageNet</a:t>
            </a:r>
            <a:endParaRPr lang="en-US" altLang="zh-CN"/>
          </a:p>
          <a:p>
            <a:pPr lvl="1"/>
            <a:r>
              <a:rPr lang="en-US" altLang="zh-CN"/>
              <a:t>Only resized images</a:t>
            </a:r>
            <a:endParaRPr lang="en-US" altLang="zh-CN"/>
          </a:p>
          <a:p>
            <a:pPr lvl="1"/>
            <a:r>
              <a:rPr lang="en-US" altLang="zh-CN"/>
              <a:t>Minimal augmentation (just normalization)</a:t>
            </a:r>
            <a:endParaRPr lang="en-US" altLang="zh-CN"/>
          </a:p>
          <a:p>
            <a:pPr lvl="1"/>
            <a:r>
              <a:rPr lang="en-US" altLang="zh-CN"/>
              <a:t>Trained 30 epochs</a:t>
            </a:r>
            <a:endParaRPr lang="en-US" altLang="zh-CN"/>
          </a:p>
          <a:p>
            <a:r>
              <a:rPr lang="en-US" altLang="zh-CN"/>
              <a:t>Observation:</a:t>
            </a:r>
            <a:endParaRPr lang="en-US" altLang="zh-CN"/>
          </a:p>
          <a:p>
            <a:pPr lvl="1"/>
            <a:r>
              <a:rPr lang="en-US" altLang="zh-CN"/>
              <a:t>Fast convergence but overfits after ~10 epochs</a:t>
            </a:r>
            <a:endParaRPr lang="en-US" altLang="zh-CN"/>
          </a:p>
          <a:p>
            <a:pPr lvl="1"/>
            <a:r>
              <a:rPr lang="en-US" altLang="zh-CN"/>
              <a:t>Accuracy okay but unstable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1: Key Results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Train accuracy ≈ 99%</a:t>
            </a:r>
            <a:endParaRPr lang="en-US" altLang="zh-CN"/>
          </a:p>
          <a:p>
            <a:r>
              <a:rPr lang="en-US" altLang="zh-CN"/>
              <a:t>Val accuracy ≈ low–mid 80s</a:t>
            </a:r>
            <a:endParaRPr lang="en-US" altLang="zh-CN"/>
          </a:p>
          <a:p>
            <a:r>
              <a:rPr lang="en-US" altLang="zh-CN"/>
              <a:t>Clear training–validation gap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Confusion mostly across similar species</a:t>
            </a:r>
            <a:endParaRPr lang="en-US" altLang="zh-CN"/>
          </a:p>
          <a:p>
            <a:r>
              <a:rPr lang="en-US" altLang="en-US"/>
              <a:t>→</a:t>
            </a:r>
            <a:r>
              <a:rPr lang="en-US" altLang="zh-CN"/>
              <a:t> Augmentation needed.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2: ViT + Heavy Augmentation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Story: “If ViT overfits, give it more diverse views.”</a:t>
            </a:r>
            <a:endParaRPr lang="en-US" altLang="zh-CN"/>
          </a:p>
          <a:p>
            <a:r>
              <a:rPr lang="en-US" altLang="zh-CN"/>
              <a:t>Tech changes</a:t>
            </a:r>
            <a:r>
              <a:rPr lang="zh-CN" altLang="en-US"/>
              <a:t>：</a:t>
            </a:r>
            <a:endParaRPr lang="zh-CN" altLang="en-US"/>
          </a:p>
          <a:p>
            <a:pPr lvl="1"/>
            <a:r>
              <a:rPr lang="en-US" altLang="zh-CN"/>
              <a:t>Add RandomHorizontal/VerticalFlip</a:t>
            </a:r>
            <a:endParaRPr lang="en-US" altLang="zh-CN"/>
          </a:p>
          <a:p>
            <a:pPr lvl="1"/>
            <a:r>
              <a:rPr lang="en-US" altLang="zh-CN"/>
              <a:t>RandomRotation, ColorJitter</a:t>
            </a:r>
            <a:endParaRPr lang="en-US" altLang="zh-CN"/>
          </a:p>
          <a:p>
            <a:pPr lvl="1"/>
            <a:r>
              <a:rPr lang="en-US" altLang="zh-CN"/>
              <a:t>RandomResizedCrop</a:t>
            </a:r>
            <a:endParaRPr lang="en-US" altLang="zh-CN"/>
          </a:p>
          <a:p>
            <a:pPr lvl="1"/>
            <a:r>
              <a:rPr lang="en-US" altLang="zh-CN"/>
              <a:t>Label smoothing (optional)</a:t>
            </a:r>
            <a:endParaRPr lang="en-US" altLang="zh-CN"/>
          </a:p>
          <a:p>
            <a:pPr lvl="1"/>
            <a:r>
              <a:rPr lang="en-US" altLang="zh-CN"/>
              <a:t>Same optimizer and schedule</a:t>
            </a:r>
            <a:endParaRPr lang="en-US" altLang="zh-CN"/>
          </a:p>
          <a:p>
            <a:r>
              <a:rPr lang="en-US" altLang="zh-CN"/>
              <a:t>Effect:</a:t>
            </a:r>
            <a:endParaRPr lang="en-US" altLang="zh-CN"/>
          </a:p>
          <a:p>
            <a:pPr lvl="1"/>
            <a:r>
              <a:rPr lang="en-US" altLang="zh-CN"/>
              <a:t>Much more stable training</a:t>
            </a:r>
            <a:endParaRPr lang="en-US" altLang="zh-CN"/>
          </a:p>
          <a:p>
            <a:pPr lvl="1"/>
            <a:r>
              <a:rPr lang="en-US" altLang="zh-CN"/>
              <a:t>Lower overfitting</a:t>
            </a:r>
            <a:endParaRPr lang="en-US" altLang="zh-CN"/>
          </a:p>
          <a:p>
            <a:pPr lvl="1"/>
            <a:r>
              <a:rPr lang="en-US" altLang="zh-CN"/>
              <a:t>Higher validation accuracy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2: Key Results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Train accuracy ~94–96% (lower </a:t>
            </a:r>
            <a:r>
              <a:rPr lang="en-US" altLang="en-US"/>
              <a:t>→</a:t>
            </a:r>
            <a:r>
              <a:rPr lang="en-US" altLang="zh-CN"/>
              <a:t> good)</a:t>
            </a:r>
            <a:endParaRPr lang="en-US" altLang="zh-CN"/>
          </a:p>
          <a:p>
            <a:r>
              <a:rPr lang="en-US" altLang="zh-CN"/>
              <a:t>Val accuracy +5%–10% improvement</a:t>
            </a:r>
            <a:endParaRPr lang="en-US" altLang="zh-CN"/>
          </a:p>
          <a:p>
            <a:r>
              <a:rPr lang="en-US" altLang="zh-CN"/>
              <a:t>Confusion matrix more balanced</a:t>
            </a:r>
            <a:endParaRPr lang="en-US" altLang="zh-CN"/>
          </a:p>
          <a:p>
            <a:r>
              <a:rPr lang="en-US" altLang="zh-CN"/>
              <a:t>ViT becomes robust to lighting / orientation variation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3: ResNet34 + Augmentations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Story: “Can a classic CNN compete?”</a:t>
            </a:r>
            <a:endParaRPr lang="en-US" altLang="zh-CN"/>
          </a:p>
          <a:p>
            <a:r>
              <a:rPr lang="en-US" altLang="zh-CN"/>
              <a:t>Why ResNet34?</a:t>
            </a:r>
            <a:endParaRPr lang="en-US" altLang="zh-CN"/>
          </a:p>
          <a:p>
            <a:pPr lvl="1"/>
            <a:r>
              <a:rPr lang="en-US" altLang="zh-CN"/>
              <a:t>Lightweight</a:t>
            </a:r>
            <a:endParaRPr lang="en-US" altLang="zh-CN"/>
          </a:p>
          <a:p>
            <a:pPr lvl="1"/>
            <a:r>
              <a:rPr lang="en-US" altLang="zh-CN"/>
              <a:t>Strong inductive bias (locality + translation equivariance)</a:t>
            </a:r>
            <a:endParaRPr lang="en-US" altLang="zh-CN"/>
          </a:p>
          <a:p>
            <a:pPr lvl="1"/>
            <a:r>
              <a:rPr lang="en-US" altLang="zh-CN"/>
              <a:t>Historically strong on limited datasets</a:t>
            </a:r>
            <a:endParaRPr lang="en-US" altLang="zh-CN"/>
          </a:p>
          <a:p>
            <a:r>
              <a:rPr lang="en-US" altLang="zh-CN"/>
              <a:t>Method:</a:t>
            </a:r>
            <a:endParaRPr lang="en-US" altLang="zh-CN"/>
          </a:p>
          <a:p>
            <a:pPr lvl="1"/>
            <a:r>
              <a:rPr lang="en-US" altLang="zh-CN"/>
              <a:t>Same augmentations as Experiment 2</a:t>
            </a:r>
            <a:endParaRPr lang="en-US" altLang="zh-CN"/>
          </a:p>
          <a:p>
            <a:pPr lvl="1"/>
            <a:r>
              <a:rPr lang="en-US" altLang="zh-CN"/>
              <a:t>SGD or Adam (similar results)</a:t>
            </a:r>
            <a:endParaRPr lang="en-US" altLang="zh-CN"/>
          </a:p>
          <a:p>
            <a:pPr lvl="1"/>
            <a:r>
              <a:rPr lang="en-US" altLang="zh-CN"/>
              <a:t>30–40 epochs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 3: Key Results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Converges slower</a:t>
            </a:r>
            <a:endParaRPr lang="en-US" altLang="zh-CN"/>
          </a:p>
          <a:p>
            <a:r>
              <a:rPr lang="en-US" altLang="zh-CN"/>
              <a:t>Final accuracy ≈ ViT+Aug</a:t>
            </a:r>
            <a:endParaRPr lang="en-US" altLang="zh-CN"/>
          </a:p>
          <a:p>
            <a:r>
              <a:rPr lang="en-US" altLang="zh-CN"/>
              <a:t>Slightly better on some fine-texture species</a:t>
            </a:r>
            <a:endParaRPr lang="en-US" altLang="zh-CN"/>
          </a:p>
          <a:p>
            <a:r>
              <a:rPr lang="en-US" altLang="zh-CN"/>
              <a:t>Worse on highly rotational species</a:t>
            </a:r>
            <a:endParaRPr lang="en-US" altLang="zh-CN"/>
          </a:p>
          <a:p>
            <a:r>
              <a:rPr lang="en-US" altLang="zh-CN"/>
              <a:t>Good generalization despite small size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Cross-Experiment Comparison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Baseline ViT: Strong but overfits</a:t>
            </a:r>
            <a:endParaRPr lang="en-US" altLang="zh-CN"/>
          </a:p>
          <a:p>
            <a:r>
              <a:rPr lang="en-US" altLang="zh-CN"/>
              <a:t>ViT+Aug: Best overall balance</a:t>
            </a:r>
            <a:endParaRPr lang="en-US" altLang="zh-CN"/>
          </a:p>
          <a:p>
            <a:r>
              <a:rPr lang="en-US" altLang="zh-CN"/>
              <a:t>ResNet34+Aug: Competitive, simpler, more stable for small data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Takeaway:</a:t>
            </a:r>
            <a:endParaRPr lang="en-US" altLang="zh-CN"/>
          </a:p>
          <a:p>
            <a:pPr lvl="1"/>
            <a:r>
              <a:rPr lang="en-US" altLang="zh-CN"/>
              <a:t>Transformer needs augmentation to avoid memorizing</a:t>
            </a:r>
            <a:endParaRPr lang="en-US" altLang="zh-CN"/>
          </a:p>
          <a:p>
            <a:pPr lvl="1"/>
            <a:r>
              <a:rPr lang="en-US" altLang="zh-CN"/>
              <a:t>CNN benefits less from augmentation but remains solid</a:t>
            </a:r>
            <a:endParaRPr lang="en-US" altLang="zh-CN"/>
          </a:p>
          <a:p>
            <a:pPr lvl="1"/>
            <a:r>
              <a:rPr lang="en-US" altLang="zh-CN"/>
              <a:t>ViT wins once regularized properly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Demo (Training Logs)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Show 3 things:</a:t>
            </a:r>
            <a:endParaRPr lang="en-US" altLang="zh-CN"/>
          </a:p>
          <a:p>
            <a:pPr lvl="1"/>
            <a:r>
              <a:rPr lang="en-US" altLang="zh-CN"/>
              <a:t>Training curves (loss &amp; acc)</a:t>
            </a:r>
            <a:endParaRPr lang="en-US" altLang="zh-CN"/>
          </a:p>
          <a:p>
            <a:pPr lvl="1"/>
            <a:r>
              <a:rPr lang="en-US" altLang="zh-CN"/>
              <a:t>Augmentation examples</a:t>
            </a:r>
            <a:endParaRPr lang="en-US" altLang="zh-CN"/>
          </a:p>
          <a:p>
            <a:pPr lvl="1"/>
            <a:r>
              <a:rPr lang="en-US" altLang="zh-CN"/>
              <a:t>Confusion matrices</a:t>
            </a:r>
            <a:endParaRPr lang="en-US" altLang="zh-CN"/>
          </a:p>
          <a:p>
            <a:r>
              <a:rPr lang="en-US" altLang="zh-CN"/>
              <a:t>Story: “The model fails where species look almost identical.”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Lessons Learned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ViT is powerful but fragile on small datasets</a:t>
            </a:r>
            <a:endParaRPr lang="en-US" altLang="zh-CN"/>
          </a:p>
          <a:p>
            <a:r>
              <a:rPr lang="en-US" altLang="zh-CN"/>
              <a:t>Strong augmentation is essential</a:t>
            </a:r>
            <a:endParaRPr lang="en-US" altLang="zh-CN"/>
          </a:p>
          <a:p>
            <a:r>
              <a:rPr lang="en-US" altLang="zh-CN"/>
              <a:t>CNN still very reliable baseline</a:t>
            </a:r>
            <a:endParaRPr lang="en-US" altLang="zh-CN"/>
          </a:p>
          <a:p>
            <a:r>
              <a:rPr lang="en-US" altLang="zh-CN"/>
              <a:t>Visualization helps diagnose overfitting early</a:t>
            </a:r>
            <a:endParaRPr lang="en-US" altLang="zh-CN"/>
          </a:p>
          <a:p>
            <a:r>
              <a:rPr lang="en-US" altLang="zh-CN"/>
              <a:t>Preprocessing (consistent resizing) matters more than expected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Future 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Try Fractal Pretraining (FDSL) to boost ViT performance</a:t>
            </a:r>
            <a:endParaRPr lang="en-US" altLang="zh-CN"/>
          </a:p>
          <a:p>
            <a:r>
              <a:rPr lang="en-US" altLang="zh-CN"/>
              <a:t>Add semi-supervised learning (FixMatch, SimCLR)</a:t>
            </a:r>
            <a:endParaRPr lang="en-US" altLang="zh-CN"/>
          </a:p>
          <a:p>
            <a:r>
              <a:rPr lang="en-US" altLang="zh-CN"/>
              <a:t>Try Swin-T, ConvNeXt, EfficientNet-V2</a:t>
            </a:r>
            <a:endParaRPr lang="en-US" altLang="zh-CN"/>
          </a:p>
          <a:p>
            <a:r>
              <a:rPr lang="en-US" altLang="zh-CN"/>
              <a:t>Multi-view fusion for microscope images</a:t>
            </a:r>
            <a:endParaRPr lang="en-US" altLang="zh-CN"/>
          </a:p>
          <a:p>
            <a:r>
              <a:rPr lang="en-US" altLang="zh-CN"/>
              <a:t>Larger, more diverse SO dataset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3322</Words>
  <Application>WPS 文字</Application>
  <PresentationFormat>宽屏</PresentationFormat>
  <Paragraphs>142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Gerald</cp:lastModifiedBy>
  <cp:revision>164</cp:revision>
  <dcterms:created xsi:type="dcterms:W3CDTF">2025-12-07T09:18:55Z</dcterms:created>
  <dcterms:modified xsi:type="dcterms:W3CDTF">2025-12-07T09:18:55Z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E3544570D46E0929CA4335691C6A9566_41</vt:lpwstr>
  </property>
</Properties>
</file>